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Gelasio" panose="020B0604020202020204" charset="0"/>
      <p:regular r:id="rId11"/>
    </p:embeddedFont>
    <p:embeddedFont>
      <p:font typeface="Lato" panose="020F0502020204030203" pitchFamily="34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wayne Fernandes" userId="5f7d8c0d53e0609b" providerId="LiveId" clId="{C998DBB0-EE22-4CE3-B029-FDF9D33863C0}"/>
    <pc:docChg chg="undo custSel modSld">
      <pc:chgData name="Dwayne Fernandes" userId="5f7d8c0d53e0609b" providerId="LiveId" clId="{C998DBB0-EE22-4CE3-B029-FDF9D33863C0}" dt="2026-02-17T17:28:51.248" v="338" actId="14100"/>
      <pc:docMkLst>
        <pc:docMk/>
      </pc:docMkLst>
      <pc:sldChg chg="modSp mod">
        <pc:chgData name="Dwayne Fernandes" userId="5f7d8c0d53e0609b" providerId="LiveId" clId="{C998DBB0-EE22-4CE3-B029-FDF9D33863C0}" dt="2026-02-17T17:28:04.114" v="330" actId="1076"/>
        <pc:sldMkLst>
          <pc:docMk/>
          <pc:sldMk cId="0" sldId="256"/>
        </pc:sldMkLst>
        <pc:spChg chg="mod">
          <ac:chgData name="Dwayne Fernandes" userId="5f7d8c0d53e0609b" providerId="LiveId" clId="{C998DBB0-EE22-4CE3-B029-FDF9D33863C0}" dt="2026-02-17T17:28:04.114" v="330" actId="1076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Dwayne Fernandes" userId="5f7d8c0d53e0609b" providerId="LiveId" clId="{C998DBB0-EE22-4CE3-B029-FDF9D33863C0}" dt="2026-02-14T14:06:53.568" v="100" actId="1076"/>
        <pc:sldMkLst>
          <pc:docMk/>
          <pc:sldMk cId="0" sldId="257"/>
        </pc:sldMkLst>
        <pc:spChg chg="mod">
          <ac:chgData name="Dwayne Fernandes" userId="5f7d8c0d53e0609b" providerId="LiveId" clId="{C998DBB0-EE22-4CE3-B029-FDF9D33863C0}" dt="2026-02-14T14:06:37.811" v="98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06:40.700" v="99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06:22:29.511" v="33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06:22:29.511" v="33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06:53.568" v="100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06:53.568" v="100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06:53.568" v="100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06:53.568" v="100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06:22:29.511" v="33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06:53.568" v="100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06:53.568" v="100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06:53.568" v="100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06:53.568" v="100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06:22:29.511" v="33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06:23:00.128" v="38"/>
          <ac:spMkLst>
            <pc:docMk/>
            <pc:sldMk cId="0" sldId="257"/>
            <ac:spMk id="23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06:53.568" v="100" actId="107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06:53.568" v="100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06:22:54.589" v="37"/>
          <ac:spMkLst>
            <pc:docMk/>
            <pc:sldMk cId="0" sldId="257"/>
            <ac:spMk id="27" creationId="{00000000-0000-0000-0000-000000000000}"/>
          </ac:spMkLst>
        </pc:spChg>
      </pc:sldChg>
      <pc:sldChg chg="addSp delSp modSp mod">
        <pc:chgData name="Dwayne Fernandes" userId="5f7d8c0d53e0609b" providerId="LiveId" clId="{C998DBB0-EE22-4CE3-B029-FDF9D33863C0}" dt="2026-02-17T17:28:25.905" v="333" actId="20577"/>
        <pc:sldMkLst>
          <pc:docMk/>
          <pc:sldMk cId="0" sldId="258"/>
        </pc:sldMkLst>
        <pc:spChg chg="mod">
          <ac:chgData name="Dwayne Fernandes" userId="5f7d8c0d53e0609b" providerId="LiveId" clId="{C998DBB0-EE22-4CE3-B029-FDF9D33863C0}" dt="2026-02-14T14:24:46.169" v="105" actId="1076"/>
          <ac:spMkLst>
            <pc:docMk/>
            <pc:sldMk cId="0" sldId="258"/>
            <ac:spMk id="2" creationId="{00000000-0000-0000-0000-000000000000}"/>
          </ac:spMkLst>
        </pc:spChg>
        <pc:spChg chg="add mod">
          <ac:chgData name="Dwayne Fernandes" userId="5f7d8c0d53e0609b" providerId="LiveId" clId="{C998DBB0-EE22-4CE3-B029-FDF9D33863C0}" dt="2026-02-14T14:33:45.264" v="314" actId="1076"/>
          <ac:spMkLst>
            <pc:docMk/>
            <pc:sldMk cId="0" sldId="258"/>
            <ac:spMk id="3" creationId="{FCD03C9D-6D65-4362-9EF9-16B8FC327669}"/>
          </ac:spMkLst>
        </pc:spChg>
        <pc:spChg chg="add mod">
          <ac:chgData name="Dwayne Fernandes" userId="5f7d8c0d53e0609b" providerId="LiveId" clId="{C998DBB0-EE22-4CE3-B029-FDF9D33863C0}" dt="2026-02-14T14:33:45.264" v="314" actId="1076"/>
          <ac:spMkLst>
            <pc:docMk/>
            <pc:sldMk cId="0" sldId="258"/>
            <ac:spMk id="5" creationId="{401E867F-47CA-7315-070A-E71DFED21034}"/>
          </ac:spMkLst>
        </pc:spChg>
        <pc:spChg chg="add mod">
          <ac:chgData name="Dwayne Fernandes" userId="5f7d8c0d53e0609b" providerId="LiveId" clId="{C998DBB0-EE22-4CE3-B029-FDF9D33863C0}" dt="2026-02-14T14:33:45.264" v="314" actId="1076"/>
          <ac:spMkLst>
            <pc:docMk/>
            <pc:sldMk cId="0" sldId="258"/>
            <ac:spMk id="9" creationId="{D9890B0D-DFAB-3063-0EB7-42A1E368DBF5}"/>
          </ac:spMkLst>
        </pc:spChg>
        <pc:spChg chg="mod">
          <ac:chgData name="Dwayne Fernandes" userId="5f7d8c0d53e0609b" providerId="LiveId" clId="{C998DBB0-EE22-4CE3-B029-FDF9D33863C0}" dt="2026-02-14T14:33:45.264" v="314" actId="1076"/>
          <ac:spMkLst>
            <pc:docMk/>
            <pc:sldMk cId="0" sldId="258"/>
            <ac:spMk id="12" creationId="{00000000-0000-0000-0000-000000000000}"/>
          </ac:spMkLst>
        </pc:spChg>
        <pc:spChg chg="add mod">
          <ac:chgData name="Dwayne Fernandes" userId="5f7d8c0d53e0609b" providerId="LiveId" clId="{C998DBB0-EE22-4CE3-B029-FDF9D33863C0}" dt="2026-02-14T14:33:45.264" v="314" actId="1076"/>
          <ac:spMkLst>
            <pc:docMk/>
            <pc:sldMk cId="0" sldId="258"/>
            <ac:spMk id="16" creationId="{5CEB568B-541C-15E5-9FB3-95C34722C0DA}"/>
          </ac:spMkLst>
        </pc:spChg>
        <pc:spChg chg="add mod">
          <ac:chgData name="Dwayne Fernandes" userId="5f7d8c0d53e0609b" providerId="LiveId" clId="{C998DBB0-EE22-4CE3-B029-FDF9D33863C0}" dt="2026-02-14T14:33:45.264" v="314" actId="1076"/>
          <ac:spMkLst>
            <pc:docMk/>
            <pc:sldMk cId="0" sldId="258"/>
            <ac:spMk id="17" creationId="{02E73280-259D-2F85-D0BB-E2E4DDF10B18}"/>
          </ac:spMkLst>
        </pc:spChg>
        <pc:spChg chg="add mod">
          <ac:chgData name="Dwayne Fernandes" userId="5f7d8c0d53e0609b" providerId="LiveId" clId="{C998DBB0-EE22-4CE3-B029-FDF9D33863C0}" dt="2026-02-17T17:28:13.996" v="331" actId="20577"/>
          <ac:spMkLst>
            <pc:docMk/>
            <pc:sldMk cId="0" sldId="258"/>
            <ac:spMk id="18" creationId="{23C39D05-2D99-114D-7C7F-729DE2C11788}"/>
          </ac:spMkLst>
        </pc:spChg>
        <pc:spChg chg="add mod">
          <ac:chgData name="Dwayne Fernandes" userId="5f7d8c0d53e0609b" providerId="LiveId" clId="{C998DBB0-EE22-4CE3-B029-FDF9D33863C0}" dt="2026-02-17T17:28:17.974" v="332" actId="20577"/>
          <ac:spMkLst>
            <pc:docMk/>
            <pc:sldMk cId="0" sldId="258"/>
            <ac:spMk id="19" creationId="{E0A17195-2586-AFF1-E753-4F8A313BE02A}"/>
          </ac:spMkLst>
        </pc:spChg>
        <pc:spChg chg="add mod">
          <ac:chgData name="Dwayne Fernandes" userId="5f7d8c0d53e0609b" providerId="LiveId" clId="{C998DBB0-EE22-4CE3-B029-FDF9D33863C0}" dt="2026-02-17T17:28:25.905" v="333" actId="20577"/>
          <ac:spMkLst>
            <pc:docMk/>
            <pc:sldMk cId="0" sldId="258"/>
            <ac:spMk id="20" creationId="{3AE9CE2F-1C49-762E-BABC-194629801DBD}"/>
          </ac:spMkLst>
        </pc:spChg>
      </pc:sldChg>
      <pc:sldChg chg="addSp delSp modSp mod">
        <pc:chgData name="Dwayne Fernandes" userId="5f7d8c0d53e0609b" providerId="LiveId" clId="{C998DBB0-EE22-4CE3-B029-FDF9D33863C0}" dt="2026-02-14T14:34:04.484" v="315"/>
        <pc:sldMkLst>
          <pc:docMk/>
          <pc:sldMk cId="0" sldId="259"/>
        </pc:sldMkLst>
        <pc:spChg chg="mod">
          <ac:chgData name="Dwayne Fernandes" userId="5f7d8c0d53e0609b" providerId="LiveId" clId="{C998DBB0-EE22-4CE3-B029-FDF9D33863C0}" dt="2026-02-14T06:44:14.998" v="58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06:44:18.950" v="59" actId="1076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Dwayne Fernandes" userId="5f7d8c0d53e0609b" providerId="LiveId" clId="{C998DBB0-EE22-4CE3-B029-FDF9D33863C0}" dt="2026-02-14T14:34:04.484" v="315"/>
          <ac:spMkLst>
            <pc:docMk/>
            <pc:sldMk cId="0" sldId="259"/>
            <ac:spMk id="4" creationId="{1914E4BB-9B28-F6F0-71C5-530F4211F2E3}"/>
          </ac:spMkLst>
        </pc:spChg>
      </pc:sldChg>
      <pc:sldChg chg="addSp delSp modSp mod">
        <pc:chgData name="Dwayne Fernandes" userId="5f7d8c0d53e0609b" providerId="LiveId" clId="{C998DBB0-EE22-4CE3-B029-FDF9D33863C0}" dt="2026-02-14T14:35:04.092" v="324" actId="1076"/>
        <pc:sldMkLst>
          <pc:docMk/>
          <pc:sldMk cId="0" sldId="260"/>
        </pc:sldMkLst>
        <pc:spChg chg="mod">
          <ac:chgData name="Dwayne Fernandes" userId="5f7d8c0d53e0609b" providerId="LiveId" clId="{C998DBB0-EE22-4CE3-B029-FDF9D33863C0}" dt="2026-02-14T14:35:04.092" v="324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34:50.184" v="322" actId="1076"/>
          <ac:spMkLst>
            <pc:docMk/>
            <pc:sldMk cId="0" sldId="260"/>
            <ac:spMk id="3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34:40.261" v="320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34:40.261" v="320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34:40.261" v="320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06:19:14.122" v="13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34:40.261" v="320" actId="1076"/>
          <ac:spMkLst>
            <pc:docMk/>
            <pc:sldMk cId="0" sldId="260"/>
            <ac:spMk id="8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34:40.261" v="320" actId="1076"/>
          <ac:spMkLst>
            <pc:docMk/>
            <pc:sldMk cId="0" sldId="260"/>
            <ac:spMk id="9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34:40.261" v="320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06:19:20.432" v="14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34:31.124" v="319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34:40.261" v="320" actId="107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34:31.124" v="319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Dwayne Fernandes" userId="5f7d8c0d53e0609b" providerId="LiveId" clId="{C998DBB0-EE22-4CE3-B029-FDF9D33863C0}" dt="2026-02-14T14:34:40.261" v="320" actId="1076"/>
          <ac:spMkLst>
            <pc:docMk/>
            <pc:sldMk cId="0" sldId="260"/>
            <ac:spMk id="19" creationId="{00000000-0000-0000-0000-000000000000}"/>
          </ac:spMkLst>
        </pc:spChg>
        <pc:spChg chg="add mod">
          <ac:chgData name="Dwayne Fernandes" userId="5f7d8c0d53e0609b" providerId="LiveId" clId="{C998DBB0-EE22-4CE3-B029-FDF9D33863C0}" dt="2026-02-14T14:34:21.847" v="318" actId="1076"/>
          <ac:spMkLst>
            <pc:docMk/>
            <pc:sldMk cId="0" sldId="260"/>
            <ac:spMk id="20" creationId="{5B0421BD-F585-FB8C-222A-BAE556574CE9}"/>
          </ac:spMkLst>
        </pc:spChg>
      </pc:sldChg>
      <pc:sldChg chg="addSp modSp mod">
        <pc:chgData name="Dwayne Fernandes" userId="5f7d8c0d53e0609b" providerId="LiveId" clId="{C998DBB0-EE22-4CE3-B029-FDF9D33863C0}" dt="2026-02-17T17:28:37.028" v="334" actId="1076"/>
        <pc:sldMkLst>
          <pc:docMk/>
          <pc:sldMk cId="0" sldId="261"/>
        </pc:sldMkLst>
        <pc:spChg chg="add mod">
          <ac:chgData name="Dwayne Fernandes" userId="5f7d8c0d53e0609b" providerId="LiveId" clId="{C998DBB0-EE22-4CE3-B029-FDF9D33863C0}" dt="2026-02-17T17:28:37.028" v="334" actId="1076"/>
          <ac:spMkLst>
            <pc:docMk/>
            <pc:sldMk cId="0" sldId="261"/>
            <ac:spMk id="5" creationId="{AA165625-DD1C-CF0D-8B17-6B6E7DD979FB}"/>
          </ac:spMkLst>
        </pc:spChg>
        <pc:spChg chg="mod">
          <ac:chgData name="Dwayne Fernandes" userId="5f7d8c0d53e0609b" providerId="LiveId" clId="{C998DBB0-EE22-4CE3-B029-FDF9D33863C0}" dt="2026-02-14T14:35:55.651" v="329" actId="255"/>
          <ac:spMkLst>
            <pc:docMk/>
            <pc:sldMk cId="0" sldId="261"/>
            <ac:spMk id="23" creationId="{1BF78978-86B4-F020-AEFE-348F23371B31}"/>
          </ac:spMkLst>
        </pc:spChg>
      </pc:sldChg>
      <pc:sldChg chg="modSp mod">
        <pc:chgData name="Dwayne Fernandes" userId="5f7d8c0d53e0609b" providerId="LiveId" clId="{C998DBB0-EE22-4CE3-B029-FDF9D33863C0}" dt="2026-02-17T17:28:51.248" v="338" actId="14100"/>
        <pc:sldMkLst>
          <pc:docMk/>
          <pc:sldMk cId="0" sldId="262"/>
        </pc:sldMkLst>
        <pc:spChg chg="mod">
          <ac:chgData name="Dwayne Fernandes" userId="5f7d8c0d53e0609b" providerId="LiveId" clId="{C998DBB0-EE22-4CE3-B029-FDF9D33863C0}" dt="2026-02-17T17:28:42.259" v="335" actId="14100"/>
          <ac:spMkLst>
            <pc:docMk/>
            <pc:sldMk cId="0" sldId="262"/>
            <ac:spMk id="19" creationId="{C47DF9FE-F646-CF23-7A5E-A25C1C14A87E}"/>
          </ac:spMkLst>
        </pc:spChg>
        <pc:spChg chg="mod">
          <ac:chgData name="Dwayne Fernandes" userId="5f7d8c0d53e0609b" providerId="LiveId" clId="{C998DBB0-EE22-4CE3-B029-FDF9D33863C0}" dt="2026-02-17T17:28:45.180" v="336" actId="14100"/>
          <ac:spMkLst>
            <pc:docMk/>
            <pc:sldMk cId="0" sldId="262"/>
            <ac:spMk id="20" creationId="{0DFADF2F-10F7-F81B-E6E5-DE93780D517C}"/>
          </ac:spMkLst>
        </pc:spChg>
        <pc:spChg chg="mod">
          <ac:chgData name="Dwayne Fernandes" userId="5f7d8c0d53e0609b" providerId="LiveId" clId="{C998DBB0-EE22-4CE3-B029-FDF9D33863C0}" dt="2026-02-17T17:28:47.512" v="337" actId="14100"/>
          <ac:spMkLst>
            <pc:docMk/>
            <pc:sldMk cId="0" sldId="262"/>
            <ac:spMk id="21" creationId="{BDC23301-CA23-FB25-767C-7259B3DF427C}"/>
          </ac:spMkLst>
        </pc:spChg>
        <pc:spChg chg="mod">
          <ac:chgData name="Dwayne Fernandes" userId="5f7d8c0d53e0609b" providerId="LiveId" clId="{C998DBB0-EE22-4CE3-B029-FDF9D33863C0}" dt="2026-02-17T17:28:51.248" v="338" actId="14100"/>
          <ac:spMkLst>
            <pc:docMk/>
            <pc:sldMk cId="0" sldId="262"/>
            <ac:spMk id="22" creationId="{F436FF36-161C-CDFC-48B4-CFBB976198D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811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89" y="188722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RFP Response – </a:t>
            </a:r>
            <a:r>
              <a:rPr lang="en-US" sz="36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{{CLIENT_NAME}}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280190" y="4494133"/>
            <a:ext cx="75564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Bid Reference: {{BID_ID}}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5202793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Prepared by </a:t>
            </a:r>
            <a:r>
              <a:rPr lang="en-US" sz="14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RFPilot</a:t>
            </a: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: Agentic RFP Platform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5F4F48-AEBB-1957-CC9B-C12D58CFB779}"/>
              </a:ext>
            </a:extLst>
          </p:cNvPr>
          <p:cNvSpPr/>
          <p:nvPr/>
        </p:nvSpPr>
        <p:spPr>
          <a:xfrm>
            <a:off x="11998712" y="7326351"/>
            <a:ext cx="2542478" cy="8028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883" y="374786"/>
            <a:ext cx="5577721" cy="697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Executive Summary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8883" y="1114461"/>
            <a:ext cx="1306877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{{EXECUTIVE_SUMMARY}}</a:t>
            </a:r>
          </a:p>
        </p:txBody>
      </p:sp>
      <p:sp>
        <p:nvSpPr>
          <p:cNvPr id="4" name="Shape 2"/>
          <p:cNvSpPr/>
          <p:nvPr/>
        </p:nvSpPr>
        <p:spPr>
          <a:xfrm>
            <a:off x="752951" y="2980908"/>
            <a:ext cx="6262211" cy="1428869"/>
          </a:xfrm>
          <a:prstGeom prst="roundRect">
            <a:avLst>
              <a:gd name="adj" fmla="val 1023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471" y="2980908"/>
            <a:ext cx="121920" cy="1428869"/>
          </a:xfrm>
          <a:prstGeom prst="roundRect">
            <a:avLst>
              <a:gd name="adj" fmla="val 76859"/>
            </a:avLst>
          </a:prstGeom>
          <a:solidFill>
            <a:srgbClr val="E5E5E0"/>
          </a:solidFill>
          <a:ln/>
        </p:spPr>
      </p:sp>
      <p:sp>
        <p:nvSpPr>
          <p:cNvPr id="6" name="Text 4"/>
          <p:cNvSpPr/>
          <p:nvPr/>
        </p:nvSpPr>
        <p:spPr>
          <a:xfrm>
            <a:off x="1097875" y="3234392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Client Name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097875" y="3802320"/>
            <a:ext cx="5663803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{{CLIENT_NAME}}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52951" y="4629209"/>
            <a:ext cx="6262211" cy="1428869"/>
          </a:xfrm>
          <a:prstGeom prst="roundRect">
            <a:avLst>
              <a:gd name="adj" fmla="val 1023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471" y="4629209"/>
            <a:ext cx="121920" cy="1428869"/>
          </a:xfrm>
          <a:prstGeom prst="roundRect">
            <a:avLst>
              <a:gd name="adj" fmla="val 76859"/>
            </a:avLst>
          </a:prstGeom>
          <a:solidFill>
            <a:srgbClr val="E5E5E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875" y="4882693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Bid Reference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097875" y="5450621"/>
            <a:ext cx="5663803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{{BID_ID}}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2951" y="6277510"/>
            <a:ext cx="6262211" cy="1428869"/>
          </a:xfrm>
          <a:prstGeom prst="roundRect">
            <a:avLst>
              <a:gd name="adj" fmla="val 1023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471" y="6277510"/>
            <a:ext cx="121920" cy="1428869"/>
          </a:xfrm>
          <a:prstGeom prst="roundRect">
            <a:avLst>
              <a:gd name="adj" fmla="val 76859"/>
            </a:avLst>
          </a:prstGeom>
          <a:solidFill>
            <a:srgbClr val="E5E5E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875" y="6530994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Submission Deadline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1097875" y="7098922"/>
            <a:ext cx="5663803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{{SUBMISSION_DATE}}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567136" y="2980908"/>
            <a:ext cx="6262211" cy="1428869"/>
          </a:xfrm>
          <a:prstGeom prst="roundRect">
            <a:avLst>
              <a:gd name="adj" fmla="val 1023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Shape 15"/>
          <p:cNvSpPr/>
          <p:nvPr/>
        </p:nvSpPr>
        <p:spPr>
          <a:xfrm>
            <a:off x="7536656" y="2980908"/>
            <a:ext cx="121920" cy="1428869"/>
          </a:xfrm>
          <a:prstGeom prst="roundRect">
            <a:avLst>
              <a:gd name="adj" fmla="val 76859"/>
            </a:avLst>
          </a:prstGeom>
          <a:solidFill>
            <a:srgbClr val="E5E5E0"/>
          </a:solidFill>
          <a:ln/>
        </p:spPr>
      </p:sp>
      <p:sp>
        <p:nvSpPr>
          <p:cNvPr id="18" name="Text 16"/>
          <p:cNvSpPr/>
          <p:nvPr/>
        </p:nvSpPr>
        <p:spPr>
          <a:xfrm>
            <a:off x="7912060" y="3234392"/>
            <a:ext cx="3160514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Estimated Contract Value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7912060" y="3802320"/>
            <a:ext cx="5663803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{{EST_VALUE}} 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567136" y="4629209"/>
            <a:ext cx="6262211" cy="1428869"/>
          </a:xfrm>
          <a:prstGeom prst="roundRect">
            <a:avLst>
              <a:gd name="adj" fmla="val 1023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36656" y="4629209"/>
            <a:ext cx="121920" cy="1428869"/>
          </a:xfrm>
          <a:prstGeom prst="roundRect">
            <a:avLst>
              <a:gd name="adj" fmla="val 76859"/>
            </a:avLst>
          </a:prstGeom>
          <a:solidFill>
            <a:srgbClr val="E5E5E0"/>
          </a:solidFill>
          <a:ln/>
        </p:spPr>
      </p:sp>
      <p:sp>
        <p:nvSpPr>
          <p:cNvPr id="22" name="Text 20"/>
          <p:cNvSpPr/>
          <p:nvPr/>
        </p:nvSpPr>
        <p:spPr>
          <a:xfrm>
            <a:off x="7912060" y="4882693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Priority Level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7912060" y="5450621"/>
            <a:ext cx="5663803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{{PRIORITY_LEVEL}}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567136" y="6277510"/>
            <a:ext cx="6262211" cy="1428869"/>
          </a:xfrm>
          <a:prstGeom prst="roundRect">
            <a:avLst>
              <a:gd name="adj" fmla="val 10239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CECE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36656" y="6277510"/>
            <a:ext cx="121920" cy="1428869"/>
          </a:xfrm>
          <a:prstGeom prst="roundRect">
            <a:avLst>
              <a:gd name="adj" fmla="val 76859"/>
            </a:avLst>
          </a:prstGeom>
          <a:solidFill>
            <a:srgbClr val="E5E5E0"/>
          </a:solidFill>
          <a:ln/>
        </p:spPr>
      </p:sp>
      <p:sp>
        <p:nvSpPr>
          <p:cNvPr id="26" name="Text 24"/>
          <p:cNvSpPr/>
          <p:nvPr/>
        </p:nvSpPr>
        <p:spPr>
          <a:xfrm>
            <a:off x="7912060" y="6530994"/>
            <a:ext cx="2788801" cy="34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Overall Risk Rating</a:t>
            </a:r>
            <a:endParaRPr lang="en-US" sz="2150" dirty="0"/>
          </a:p>
        </p:txBody>
      </p:sp>
      <p:sp>
        <p:nvSpPr>
          <p:cNvPr id="27" name="Text 25"/>
          <p:cNvSpPr/>
          <p:nvPr/>
        </p:nvSpPr>
        <p:spPr>
          <a:xfrm>
            <a:off x="7912060" y="7098922"/>
            <a:ext cx="5663803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{{OVERALL_RISK_RATING}}</a:t>
            </a:r>
            <a:endParaRPr lang="en-US" sz="17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4AD636-5BC5-20F9-623D-226DD4D73F41}"/>
              </a:ext>
            </a:extLst>
          </p:cNvPr>
          <p:cNvSpPr/>
          <p:nvPr/>
        </p:nvSpPr>
        <p:spPr>
          <a:xfrm>
            <a:off x="11968232" y="7818833"/>
            <a:ext cx="2542478" cy="56388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35323" y="609979"/>
            <a:ext cx="5817275" cy="514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Technical Compliance Overview</a:t>
            </a:r>
            <a:endParaRPr lang="en-US" sz="4400" dirty="0"/>
          </a:p>
        </p:txBody>
      </p:sp>
      <p:sp>
        <p:nvSpPr>
          <p:cNvPr id="12" name="Text 8"/>
          <p:cNvSpPr/>
          <p:nvPr/>
        </p:nvSpPr>
        <p:spPr>
          <a:xfrm>
            <a:off x="1635383" y="1894239"/>
            <a:ext cx="11359634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Performance Indicators:</a:t>
            </a:r>
            <a:endParaRPr lang="en-US" sz="20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C2A897-7D1F-F4BE-EA7F-382DDC27580D}"/>
              </a:ext>
            </a:extLst>
          </p:cNvPr>
          <p:cNvSpPr/>
          <p:nvPr/>
        </p:nvSpPr>
        <p:spPr>
          <a:xfrm>
            <a:off x="11998712" y="7326351"/>
            <a:ext cx="2542478" cy="8028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FCD03C9D-6D65-4362-9EF9-16B8FC327669}"/>
              </a:ext>
            </a:extLst>
          </p:cNvPr>
          <p:cNvSpPr/>
          <p:nvPr/>
        </p:nvSpPr>
        <p:spPr>
          <a:xfrm rot="5400000">
            <a:off x="2027370" y="3066733"/>
            <a:ext cx="2595949" cy="2189546"/>
          </a:xfrm>
          <a:prstGeom prst="flowChart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401E867F-47CA-7315-070A-E71DFED21034}"/>
              </a:ext>
            </a:extLst>
          </p:cNvPr>
          <p:cNvSpPr/>
          <p:nvPr/>
        </p:nvSpPr>
        <p:spPr>
          <a:xfrm rot="5400000">
            <a:off x="4665414" y="3050522"/>
            <a:ext cx="2628379" cy="2189546"/>
          </a:xfrm>
          <a:prstGeom prst="flowChart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D9890B0D-DFAB-3063-0EB7-42A1E368DBF5}"/>
              </a:ext>
            </a:extLst>
          </p:cNvPr>
          <p:cNvSpPr/>
          <p:nvPr/>
        </p:nvSpPr>
        <p:spPr>
          <a:xfrm rot="5400000">
            <a:off x="7319674" y="3050521"/>
            <a:ext cx="2628378" cy="2189548"/>
          </a:xfrm>
          <a:prstGeom prst="flowChart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5CEB568B-541C-15E5-9FB3-95C34722C0DA}"/>
              </a:ext>
            </a:extLst>
          </p:cNvPr>
          <p:cNvSpPr/>
          <p:nvPr/>
        </p:nvSpPr>
        <p:spPr>
          <a:xfrm rot="5400000">
            <a:off x="9973932" y="3050519"/>
            <a:ext cx="2628379" cy="2189546"/>
          </a:xfrm>
          <a:prstGeom prst="flowChart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E73280-259D-2F85-D0BB-E2E4DDF10B18}"/>
              </a:ext>
            </a:extLst>
          </p:cNvPr>
          <p:cNvSpPr txBox="1"/>
          <p:nvPr/>
        </p:nvSpPr>
        <p:spPr>
          <a:xfrm>
            <a:off x="2416520" y="3114240"/>
            <a:ext cx="181764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Average Spec Match</a:t>
            </a:r>
          </a:p>
          <a:p>
            <a:pPr algn="ctr"/>
            <a:endParaRPr lang="en-US" sz="2400" dirty="0"/>
          </a:p>
          <a:p>
            <a:pPr algn="ctr"/>
            <a:r>
              <a:rPr lang="en-US" sz="1600" dirty="0"/>
              <a:t>{{AVERAGE_SPEC_MATCH}}</a:t>
            </a:r>
            <a:endParaRPr lang="en-IN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C39D05-2D99-114D-7C7F-729DE2C11788}"/>
              </a:ext>
            </a:extLst>
          </p:cNvPr>
          <p:cNvSpPr txBox="1"/>
          <p:nvPr/>
        </p:nvSpPr>
        <p:spPr>
          <a:xfrm>
            <a:off x="5070779" y="3131661"/>
            <a:ext cx="18176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Total Items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1600" dirty="0"/>
              <a:t>{{TOTAL_ITEMS}}</a:t>
            </a:r>
            <a:endParaRPr lang="en-IN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A17195-2586-AFF1-E753-4F8A313BE02A}"/>
              </a:ext>
            </a:extLst>
          </p:cNvPr>
          <p:cNvSpPr txBox="1"/>
          <p:nvPr/>
        </p:nvSpPr>
        <p:spPr>
          <a:xfrm>
            <a:off x="7725039" y="3114239"/>
            <a:ext cx="181764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Confidence Level</a:t>
            </a:r>
          </a:p>
          <a:p>
            <a:pPr algn="ctr"/>
            <a:endParaRPr lang="en-US" sz="2400" dirty="0"/>
          </a:p>
          <a:p>
            <a:pPr algn="ctr"/>
            <a:r>
              <a:rPr lang="en-US" sz="1600" dirty="0"/>
              <a:t>{{CONFIDENCE_LEVEL}}</a:t>
            </a:r>
            <a:endParaRPr lang="en-IN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E9CE2F-1C49-762E-BABC-194629801DBD}"/>
              </a:ext>
            </a:extLst>
          </p:cNvPr>
          <p:cNvSpPr txBox="1"/>
          <p:nvPr/>
        </p:nvSpPr>
        <p:spPr>
          <a:xfrm>
            <a:off x="10379297" y="3117817"/>
            <a:ext cx="18176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Domain</a:t>
            </a:r>
          </a:p>
          <a:p>
            <a:pPr algn="ctr"/>
            <a:endParaRPr lang="en-US" sz="2400" dirty="0"/>
          </a:p>
          <a:p>
            <a:pPr algn="ctr"/>
            <a:endParaRPr lang="en-US" sz="2400" dirty="0"/>
          </a:p>
          <a:p>
            <a:pPr algn="ctr"/>
            <a:r>
              <a:rPr lang="en-US" sz="1600" dirty="0"/>
              <a:t>{{DOMAIN}}</a:t>
            </a:r>
            <a:endParaRPr lang="en-IN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31178"/>
            <a:ext cx="75072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Specification Coverage Matrix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75641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Detailed breakdown of how our proposed solution aligns with each RFP requirement.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793790" y="73222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table highlights our commitment to transparency and our ability to meet stringent technical demands.</a:t>
            </a:r>
            <a:endParaRPr lang="en-US" sz="175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1EFF36-70F7-6672-FF28-F2722650F5F0}"/>
              </a:ext>
            </a:extLst>
          </p:cNvPr>
          <p:cNvSpPr/>
          <p:nvPr/>
        </p:nvSpPr>
        <p:spPr>
          <a:xfrm>
            <a:off x="11998712" y="7326351"/>
            <a:ext cx="2542478" cy="8028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4E4BB-9B28-F6F0-71C5-530F4211F2E3}"/>
              </a:ext>
            </a:extLst>
          </p:cNvPr>
          <p:cNvSpPr txBox="1"/>
          <p:nvPr/>
        </p:nvSpPr>
        <p:spPr>
          <a:xfrm>
            <a:off x="793790" y="2491809"/>
            <a:ext cx="12899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{{SPEC_MATRIX}}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3385" y="891501"/>
            <a:ext cx="4312920" cy="53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44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Pricing Breakdown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004" y="1902156"/>
            <a:ext cx="1190363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clear and concise overview of the financial components of our proposal, presented in Indian Rupees.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605837" y="2766596"/>
            <a:ext cx="2805112" cy="1034058"/>
          </a:xfrm>
          <a:prstGeom prst="roundRect">
            <a:avLst>
              <a:gd name="adj" fmla="val 1061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2582977" y="2766596"/>
            <a:ext cx="91440" cy="1034058"/>
          </a:xfrm>
          <a:prstGeom prst="roundRect">
            <a:avLst>
              <a:gd name="adj" fmla="val 79240"/>
            </a:avLst>
          </a:prstGeom>
          <a:solidFill>
            <a:srgbClr val="E5E5E0"/>
          </a:solidFill>
          <a:ln/>
        </p:spPr>
      </p:sp>
      <p:sp>
        <p:nvSpPr>
          <p:cNvPr id="6" name="Text 4"/>
          <p:cNvSpPr/>
          <p:nvPr/>
        </p:nvSpPr>
        <p:spPr>
          <a:xfrm>
            <a:off x="2869679" y="2961858"/>
            <a:ext cx="2156460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Material Cost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869679" y="3362503"/>
            <a:ext cx="234600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{{MATERIAL_COST}}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542156" y="2766596"/>
            <a:ext cx="2805112" cy="1034058"/>
          </a:xfrm>
          <a:prstGeom prst="roundRect">
            <a:avLst>
              <a:gd name="adj" fmla="val 1061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19296" y="2766596"/>
            <a:ext cx="91440" cy="1034058"/>
          </a:xfrm>
          <a:prstGeom prst="roundRect">
            <a:avLst>
              <a:gd name="adj" fmla="val 79240"/>
            </a:avLst>
          </a:prstGeom>
          <a:solidFill>
            <a:srgbClr val="E5E5E0"/>
          </a:solidFill>
          <a:ln/>
        </p:spPr>
      </p:sp>
      <p:sp>
        <p:nvSpPr>
          <p:cNvPr id="10" name="Text 8"/>
          <p:cNvSpPr/>
          <p:nvPr/>
        </p:nvSpPr>
        <p:spPr>
          <a:xfrm>
            <a:off x="5805999" y="2961858"/>
            <a:ext cx="2156460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Testing &amp; Certification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805999" y="3362503"/>
            <a:ext cx="234600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{{TESTING_COST}}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542531" y="2766596"/>
            <a:ext cx="2805112" cy="1026437"/>
          </a:xfrm>
          <a:prstGeom prst="roundRect">
            <a:avLst>
              <a:gd name="adj" fmla="val 1002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ECE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19671" y="2766596"/>
            <a:ext cx="91440" cy="1026437"/>
          </a:xfrm>
          <a:prstGeom prst="roundRect">
            <a:avLst>
              <a:gd name="adj" fmla="val 79240"/>
            </a:avLst>
          </a:prstGeom>
          <a:solidFill>
            <a:srgbClr val="E5E5E0"/>
          </a:solidFill>
          <a:ln/>
        </p:spPr>
      </p:sp>
      <p:sp>
        <p:nvSpPr>
          <p:cNvPr id="18" name="Text 16"/>
          <p:cNvSpPr/>
          <p:nvPr/>
        </p:nvSpPr>
        <p:spPr>
          <a:xfrm>
            <a:off x="8806374" y="2961859"/>
            <a:ext cx="2156460" cy="252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Grand Total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806374" y="3362505"/>
            <a:ext cx="2346008" cy="284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{{GRAND_TOTAL}}</a:t>
            </a:r>
            <a:endParaRPr lang="en-US" sz="1350" dirty="0"/>
          </a:p>
        </p:txBody>
      </p:sp>
      <p:sp>
        <p:nvSpPr>
          <p:cNvPr id="36" name="Text 30"/>
          <p:cNvSpPr/>
          <p:nvPr/>
        </p:nvSpPr>
        <p:spPr>
          <a:xfrm>
            <a:off x="7533203" y="6971467"/>
            <a:ext cx="5741432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3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2C03257-FA57-7C77-FC28-ACAFC0CFBC59}"/>
              </a:ext>
            </a:extLst>
          </p:cNvPr>
          <p:cNvSpPr/>
          <p:nvPr/>
        </p:nvSpPr>
        <p:spPr>
          <a:xfrm>
            <a:off x="11998712" y="7326351"/>
            <a:ext cx="2542478" cy="8028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0421BD-F585-FB8C-222A-BAE556574CE9}"/>
              </a:ext>
            </a:extLst>
          </p:cNvPr>
          <p:cNvSpPr txBox="1"/>
          <p:nvPr/>
        </p:nvSpPr>
        <p:spPr>
          <a:xfrm>
            <a:off x="5542156" y="5687122"/>
            <a:ext cx="5741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{{COST_BAR_VISUAL}}</a:t>
            </a:r>
            <a:endParaRPr lang="en-IN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812" y="646867"/>
            <a:ext cx="5577721" cy="697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Risks &amp; Assumptions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0812" y="1782961"/>
            <a:ext cx="13068776" cy="35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Proactive identification of potential risks and clear articulation of underlying assumptions for project success.</a:t>
            </a:r>
            <a:endParaRPr lang="en-US" sz="17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DD20C8-C23F-1EF8-E91E-C5B0E707ED8A}"/>
              </a:ext>
            </a:extLst>
          </p:cNvPr>
          <p:cNvSpPr/>
          <p:nvPr/>
        </p:nvSpPr>
        <p:spPr>
          <a:xfrm>
            <a:off x="11998712" y="7326351"/>
            <a:ext cx="2542478" cy="8028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F78978-86B4-F020-AEFE-348F23371B31}"/>
              </a:ext>
            </a:extLst>
          </p:cNvPr>
          <p:cNvSpPr txBox="1"/>
          <p:nvPr/>
        </p:nvSpPr>
        <p:spPr>
          <a:xfrm>
            <a:off x="780812" y="2609385"/>
            <a:ext cx="2809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{{RISK_LIST}}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165625-DD1C-CF0D-8B17-6B6E7DD979FB}"/>
              </a:ext>
            </a:extLst>
          </p:cNvPr>
          <p:cNvSpPr txBox="1"/>
          <p:nvPr/>
        </p:nvSpPr>
        <p:spPr>
          <a:xfrm>
            <a:off x="6244683" y="2609385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{{OVERALL_RISK_BADGE}}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546" y="493157"/>
            <a:ext cx="4482346" cy="56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Delivery Timeline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29546" y="1336834"/>
            <a:ext cx="12371308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structured roadmap ensures timely execution and successful project completion.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1433902" y="7479506"/>
            <a:ext cx="12371308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ED3E72-5147-BE04-FDC1-D46AFFB06AA9}"/>
              </a:ext>
            </a:extLst>
          </p:cNvPr>
          <p:cNvSpPr/>
          <p:nvPr/>
        </p:nvSpPr>
        <p:spPr>
          <a:xfrm>
            <a:off x="12303068" y="7736325"/>
            <a:ext cx="2226971" cy="392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C47DF9FE-F646-CF23-7A5E-A25C1C14A87E}"/>
              </a:ext>
            </a:extLst>
          </p:cNvPr>
          <p:cNvSpPr/>
          <p:nvPr/>
        </p:nvSpPr>
        <p:spPr>
          <a:xfrm rot="5400000">
            <a:off x="1008025" y="1974912"/>
            <a:ext cx="2908183" cy="2665142"/>
          </a:xfrm>
          <a:prstGeom prst="flowChart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0DFADF2F-10F7-F81B-E6E5-DE93780D517C}"/>
              </a:ext>
            </a:extLst>
          </p:cNvPr>
          <p:cNvSpPr/>
          <p:nvPr/>
        </p:nvSpPr>
        <p:spPr>
          <a:xfrm rot="5400000">
            <a:off x="4293917" y="1998547"/>
            <a:ext cx="2908186" cy="2665142"/>
          </a:xfrm>
          <a:prstGeom prst="flowChart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BDC23301-CA23-FB25-767C-7259B3DF427C}"/>
              </a:ext>
            </a:extLst>
          </p:cNvPr>
          <p:cNvSpPr/>
          <p:nvPr/>
        </p:nvSpPr>
        <p:spPr>
          <a:xfrm rot="5400000">
            <a:off x="7579811" y="1998545"/>
            <a:ext cx="2908186" cy="2665142"/>
          </a:xfrm>
          <a:prstGeom prst="flowChart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F436FF36-161C-CDFC-48B4-CFBB976198D8}"/>
              </a:ext>
            </a:extLst>
          </p:cNvPr>
          <p:cNvSpPr/>
          <p:nvPr/>
        </p:nvSpPr>
        <p:spPr>
          <a:xfrm rot="5400000">
            <a:off x="10877522" y="1986728"/>
            <a:ext cx="2884552" cy="2665142"/>
          </a:xfrm>
          <a:prstGeom prst="flowChartProcess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5EFD19-25A5-F850-18C5-ADF6F6D99BFB}"/>
              </a:ext>
            </a:extLst>
          </p:cNvPr>
          <p:cNvSpPr txBox="1"/>
          <p:nvPr/>
        </p:nvSpPr>
        <p:spPr>
          <a:xfrm>
            <a:off x="1433902" y="2174488"/>
            <a:ext cx="2056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{{PHASE_1}}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5C3D4B-33F8-4F26-84A5-86A896ED2ABD}"/>
              </a:ext>
            </a:extLst>
          </p:cNvPr>
          <p:cNvSpPr txBox="1"/>
          <p:nvPr/>
        </p:nvSpPr>
        <p:spPr>
          <a:xfrm>
            <a:off x="4719795" y="2170771"/>
            <a:ext cx="2056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{{PHASE_2}}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976899-A224-10D8-0C28-77F1CAA54E1C}"/>
              </a:ext>
            </a:extLst>
          </p:cNvPr>
          <p:cNvSpPr txBox="1"/>
          <p:nvPr/>
        </p:nvSpPr>
        <p:spPr>
          <a:xfrm>
            <a:off x="8005687" y="2142222"/>
            <a:ext cx="2056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{{PHASE_3}}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1C974F-A567-01FB-F26E-CBC78EF2143B}"/>
              </a:ext>
            </a:extLst>
          </p:cNvPr>
          <p:cNvSpPr txBox="1"/>
          <p:nvPr/>
        </p:nvSpPr>
        <p:spPr>
          <a:xfrm>
            <a:off x="11274853" y="2142222"/>
            <a:ext cx="2056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{{PHASE_4}}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6885"/>
            <a:ext cx="95829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Why Us?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092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Leverage our proven expertise and robust infrastructure for unparalleled project success.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27346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224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5E5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948827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Domain Experience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5159454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Deep understanding of public sector, EPC, and enterprise procurement cycles.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527346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51396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5E5E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948827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Past Similar Projects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5159454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track record of successful engagements with complex RFP requirements.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527346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74568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5E5E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948827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4669036"/>
            <a:ext cx="30179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Manufacturing Capacity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515945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State-of-the-art facilities ensuring high-quality, scalable production.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27B5F8-0E1A-2B80-39A0-F0301BADE4D2}"/>
              </a:ext>
            </a:extLst>
          </p:cNvPr>
          <p:cNvSpPr/>
          <p:nvPr/>
        </p:nvSpPr>
        <p:spPr>
          <a:xfrm>
            <a:off x="11998712" y="7326351"/>
            <a:ext cx="2542478" cy="8028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322</Words>
  <Application>Microsoft Office PowerPoint</Application>
  <PresentationFormat>Custom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Lato</vt:lpstr>
      <vt:lpstr>Gelasio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Dwayne Fernandes</cp:lastModifiedBy>
  <cp:revision>5</cp:revision>
  <dcterms:created xsi:type="dcterms:W3CDTF">2026-02-13T14:54:12Z</dcterms:created>
  <dcterms:modified xsi:type="dcterms:W3CDTF">2026-02-17T17:28:54Z</dcterms:modified>
</cp:coreProperties>
</file>